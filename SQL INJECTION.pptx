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51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9265F04-D785-4CFE-B28F-C0FF501754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9426992-9D33-425E-9A6F-448A18D1DBC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676738-512C-42C0-85F8-D3AB4703F37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682F8EA-2D7C-4FFE-A9A0-D757893EF0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7536B52-D5FD-4CB7-8349-19C9977A58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0006125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9B54D8-C0FC-4C03-A321-4F90D9442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F9C6837-D338-4C05-959E-3F941EE793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54DDEE-B6CD-4767-951C-C25D61DF6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0D01D6B-A7CE-48DC-A3FA-24B55AD7A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C30A6BD0-E4B5-43C2-9ACB-245B9F8163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83954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692F0D4-5B34-4B6B-B395-FE529D3290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10ACB3F-27FB-4489-8731-C4B3AE4CCD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70DD632-C0F2-400C-9FDE-30016537B0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8141118A-4558-4F29-B4C7-89AAE1C4C7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300E26-2CF6-4CB3-9F08-0893F27415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6972064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41B7F6F-BB58-4BB0-A220-0953A39AB5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F230A1D-0624-4666-AFB9-2E586D8F699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62C31A8-B9FB-487F-8F4E-1BC637CE271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00652C7-3ECD-468B-A6FE-F7E3B2A363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0BAEF76E-E371-48DD-8CD5-15773952D3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2F5BC2B-532D-4771-9004-2BC4462DD7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128839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8D1407B-4235-4AC7-82D4-2438250629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7FD2BF0-148C-4D8D-BDD1-5E3CBBCD2D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B3583841-540A-4FC2-92A4-4227AB4471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54216D84-E1CD-48CD-9DDF-A86A3ADC1A2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B2D631C-6E2B-4438-8001-46F81DA419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D6FB62EB-7400-4AE2-8FE1-81805DB947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5570195A-0FF9-42D7-8DB5-438E1D9B49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B1DF95B4-E708-4F07-9113-1DF4672EC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399898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AC42486-B6FA-4690-9633-B0F78BAEA6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9EED50E0-3FD7-4945-82B4-281A9FAD93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53790465-C2C8-486C-AEFC-D17234393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A28C740-1F4A-4ABB-AADB-76A01124A2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0602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2D80F7F0-FB47-4A14-A31C-D975341C1F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CCAFBAB7-CFF8-417F-9AE9-4486C892C2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0C09CB10-6FBC-4CB9-9733-020DE9EF7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157389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02A085-0E68-4313-9E32-50A2BB62C1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9043AED0-78F2-456D-9562-7586E55CDF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256BEB64-5AD6-45A8-8C33-F1B4C2EEF9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24AF82B6-8B26-4208-918E-38A30A4C6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E56C26C-BB8A-4702-9469-A514C744EF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BC6ADD3-8281-4D8D-B97B-FB733CC08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92183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D8B24DD-7BEA-4B05-AED3-64E3298468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E1A39C36-41B6-41E5-87FF-F2CE191C21A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5C4D959-C248-49E1-84A9-3BE7511711A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056738B4-EB9E-422B-ABA9-5A6FCAB404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BC1C076-A767-45D8-A4CD-FB0094A3D1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50021C1-96F4-40C7-B883-445963331E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121336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EE1B54-48A3-454B-BEB9-AE43DA1FE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F67E033-BA0C-4188-A926-179A5262589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ED2136A-7F9E-4650-AC8D-BC01CFBD30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A6A86EA-1B39-4CB6-AF14-24B2646D8C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F4E0281-796B-42AD-904F-A1B5423283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21302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D429CA0-0467-4C93-A6BB-B15EF4ACB9E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1669892-4115-49EB-ABC8-6DB52247233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D1BDCE8-A271-4121-844F-7177CC895F4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30189BA3-B0B6-40B3-B180-2B59F418F3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AC4C9D9-81AA-4AAF-A644-7727CB3098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51335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32075947-5DF9-444E-A79E-C573777D2E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75F317F-31F9-42DA-8549-0A395CC496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874AC48-3D85-488C-B886-E9B9529A5FA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4C8902-640C-446D-9533-94E86EFCCEF8}" type="datetimeFigureOut">
              <a:rPr lang="pt-BR" smtClean="0"/>
              <a:t>13/11/2025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3FB39CE-65D9-49A6-980F-3E2E14D80EA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D8AE6A3D-8758-4CE1-B761-056ED5ED561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D302CA5-E7F0-46CB-9199-A91B3691EC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4719636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F79FE97-7A9B-4221-8704-0EF569804B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98600" y="1071563"/>
            <a:ext cx="9144000" cy="2387600"/>
          </a:xfrm>
        </p:spPr>
        <p:txBody>
          <a:bodyPr/>
          <a:lstStyle/>
          <a:p>
            <a:r>
              <a:rPr lang="pt-BR" dirty="0"/>
              <a:t>SQL INJECTION</a:t>
            </a:r>
          </a:p>
        </p:txBody>
      </p:sp>
      <p:pic>
        <p:nvPicPr>
          <p:cNvPr id="1026" name="Picture 2" descr="O que é injeção de SQL? | Explicação e proteção">
            <a:extLst>
              <a:ext uri="{FF2B5EF4-FFF2-40B4-BE49-F238E27FC236}">
                <a16:creationId xmlns:a16="http://schemas.microsoft.com/office/drawing/2014/main" id="{BFE69E28-E1F9-45B9-B9D4-FBA9D70D23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34" b="94040" l="9910" r="89790">
                        <a14:foregroundMark x1="17117" y1="15232" x2="41141" y2="57616"/>
                        <a14:foregroundMark x1="44745" y1="67550" x2="51652" y2="64238"/>
                        <a14:foregroundMark x1="54655" y1="44371" x2="74474" y2="34437"/>
                        <a14:foregroundMark x1="74474" y1="34437" x2="74474" y2="33775"/>
                        <a14:foregroundMark x1="73574" y1="23179" x2="78378" y2="28477"/>
                        <a14:foregroundMark x1="72973" y1="18543" x2="79580" y2="29139"/>
                        <a14:foregroundMark x1="82583" y1="51656" x2="84084" y2="66887"/>
                        <a14:foregroundMark x1="84084" y1="49669" x2="87688" y2="86755"/>
                        <a14:foregroundMark x1="61862" y1="70861" x2="60360" y2="88079"/>
                        <a14:foregroundMark x1="74174" y1="44371" x2="71471" y2="52318"/>
                        <a14:foregroundMark x1="30330" y1="78146" x2="30631" y2="86093"/>
                        <a14:foregroundMark x1="22523" y1="93377" x2="39039" y2="93377"/>
                        <a14:foregroundMark x1="20420" y1="94040" x2="24925" y2="92053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8488" y="3666597"/>
            <a:ext cx="3651779" cy="16559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90008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CD75227-0684-4244-97AA-1C00AC59B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O que é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FB7EA96-D3FF-425F-BBFA-3B146D6A345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O SQL </a:t>
            </a:r>
            <a:r>
              <a:rPr lang="pt-BR" dirty="0" err="1"/>
              <a:t>Injection</a:t>
            </a:r>
            <a:r>
              <a:rPr lang="pt-BR" dirty="0"/>
              <a:t> é uma técnica de ataque baseada na manipulação do código SQL, que é a linguagem utilizada para troca de informações entre aplicativos e bancos de dados relacionais. Como a maioria dos fabricantes de software utiliza o padrão SQL-92 ANSI (ver Nota 1) na escrita do código SQL, os problemas e as falhas de segurança aqui apresentadas se aplicam a todo ambiente que faz uso desse padrão para troca de informações - o que inclui, por exemplo, servidores Oracle</a:t>
            </a:r>
          </a:p>
        </p:txBody>
      </p:sp>
    </p:spTree>
    <p:extLst>
      <p:ext uri="{BB962C8B-B14F-4D97-AF65-F5344CB8AC3E}">
        <p14:creationId xmlns:p14="http://schemas.microsoft.com/office/powerpoint/2010/main" val="234967897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3BA3202-4190-48BA-9FB6-6293FA4BC9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dirty="0"/>
              <a:t>SQL </a:t>
            </a:r>
            <a:r>
              <a:rPr lang="pt-BR" dirty="0" err="1"/>
              <a:t>Injection</a:t>
            </a:r>
            <a:r>
              <a:rPr lang="pt-BR" dirty="0"/>
              <a:t>: O que é? Por que funciona?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3A2D4BC8-D3D5-4A07-8CEA-28ABC1D5AA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SQL </a:t>
            </a:r>
            <a:r>
              <a:rPr lang="pt-BR" dirty="0" err="1"/>
              <a:t>Injection</a:t>
            </a:r>
            <a:r>
              <a:rPr lang="pt-BR" dirty="0"/>
              <a:t> é uma classe de ataque onde o invasor pode inserir ou manipular consultas criadas pela aplicação, que são enviadas diretamente para o banco de dados relacional.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Por que o SQL </a:t>
            </a:r>
            <a:r>
              <a:rPr lang="pt-BR" dirty="0" err="1"/>
              <a:t>Injection</a:t>
            </a:r>
            <a:r>
              <a:rPr lang="pt-BR" dirty="0"/>
              <a:t> funciona?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Por que a aplicação aceita dados arbitrários fornecidos pelo usuário (“confia” no texto digitado);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pt-BR" dirty="0"/>
              <a:t>As conexões são feitas no contexto de um usuário com privilégios altos.</a:t>
            </a:r>
          </a:p>
          <a:p>
            <a:pPr algn="just">
              <a:lnSpc>
                <a:spcPct val="150000"/>
              </a:lnSpc>
            </a:pP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4118167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EAED778-89F7-42D8-83A4-E871430D8E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Como executar o ataque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94934F-72B7-4F26-8DD7-F8533ACA26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>
              <a:lnSpc>
                <a:spcPct val="150000"/>
              </a:lnSpc>
            </a:pPr>
            <a:r>
              <a:rPr lang="pt-BR" dirty="0"/>
              <a:t>Primeiro observe o campo usando a inspeção no HTML, veja as vulnerabilidades do código, após isso, insira o seguinte comando no </a:t>
            </a:r>
          </a:p>
          <a:p>
            <a:pPr algn="just">
              <a:lnSpc>
                <a:spcPct val="150000"/>
              </a:lnSpc>
            </a:pPr>
            <a:r>
              <a:rPr lang="pt-BR" dirty="0"/>
              <a:t>input no do </a:t>
            </a:r>
            <a:r>
              <a:rPr lang="pt-BR" dirty="0" err="1"/>
              <a:t>html</a:t>
            </a:r>
            <a:r>
              <a:rPr lang="pt-BR" dirty="0"/>
              <a:t>: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1" dirty="0"/>
              <a:t>admin' OR '1'='1' --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dirty="0"/>
              <a:t>Ou </a:t>
            </a:r>
          </a:p>
          <a:p>
            <a:pPr marL="0" indent="0" algn="just">
              <a:lnSpc>
                <a:spcPct val="150000"/>
              </a:lnSpc>
              <a:buNone/>
            </a:pPr>
            <a:r>
              <a:rPr lang="pt-BR" b="1" dirty="0"/>
              <a:t>' OR '1'='1' -- </a:t>
            </a:r>
          </a:p>
        </p:txBody>
      </p:sp>
    </p:spTree>
    <p:extLst>
      <p:ext uri="{BB962C8B-B14F-4D97-AF65-F5344CB8AC3E}">
        <p14:creationId xmlns:p14="http://schemas.microsoft.com/office/powerpoint/2010/main" val="34239924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8555B8A-B8EE-4503-8BAE-1FAED1D7D3F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ECF8AD9-FC26-4F2C-BF4A-F8FBA4E004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um ataque de 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SQL </a:t>
            </a:r>
            <a:r>
              <a:rPr lang="pt-BR" b="1" i="0" dirty="0" err="1">
                <a:solidFill>
                  <a:srgbClr val="0A0A0A"/>
                </a:solidFill>
                <a:effectLst/>
                <a:latin typeface="Google Sans"/>
              </a:rPr>
              <a:t>injection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for bem-sucedido, as consequências podem ser graves e envolvem o 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acesso ilegítimo, manipulação, extração ou exclusão de dados confidenciais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no banco de dados da aplicação	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2142423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C2202-BA1C-4902-95B6-82B34341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2FE9D-7843-4CAA-B601-FB091DD0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Lei nº 12.737/2012 (Lei Carolina Dieckmann):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Essa lei alterou o Código Penal para tipificar delitos informáticos. Um ataque de SQL </a:t>
            </a:r>
            <a:r>
              <a:rPr lang="pt-BR" b="0" i="0" dirty="0" err="1">
                <a:solidFill>
                  <a:srgbClr val="0A0A0A"/>
                </a:solidFill>
                <a:effectLst/>
                <a:latin typeface="Google Sans"/>
              </a:rPr>
              <a:t>Injection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 que resulte na invasão de um dispositivo informático (como um servidor ou banco de dados) pode ser enquadrado no 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Artigo 154-A do Código Penal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(Invasão de dispositivo informático), que prevê pena de reclusão de 1 a 4 anos e multa.</a:t>
            </a:r>
          </a:p>
          <a:p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64764262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C2202-BA1C-4902-95B6-82B34341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2FE9D-7843-4CAA-B601-FB091DD0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Lei nº 13.709/2018 (Lei Geral de Proteção de Dados - LGPD):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A LGPD não criminaliza o ataque em si, mas estabelece regras rigorosas sobre a coleta, tratamento e proteção de dados pessoais. Empresas que sofrem vazamento de dados devido a falhas de segurança, como a vulnerabilidade a SQL </a:t>
            </a:r>
            <a:r>
              <a:rPr lang="pt-BR" b="0" i="0" dirty="0" err="1">
                <a:solidFill>
                  <a:srgbClr val="0A0A0A"/>
                </a:solidFill>
                <a:effectLst/>
                <a:latin typeface="Google Sans"/>
              </a:rPr>
              <a:t>Injection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, podem sofrer </a:t>
            </a: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sanções administrativas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(advertência, multas de até 2% do faturamento, limitadas a R$ 50 milhões por infração) e são obrigadas a reparar danos causados aos titulares dos dados.</a:t>
            </a:r>
          </a:p>
        </p:txBody>
      </p:sp>
    </p:spTree>
    <p:extLst>
      <p:ext uri="{BB962C8B-B14F-4D97-AF65-F5344CB8AC3E}">
        <p14:creationId xmlns:p14="http://schemas.microsoft.com/office/powerpoint/2010/main" val="11590501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4AC2202-BA1C-4902-95B6-82B34341B0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Leis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CA2FE9D-7843-4CAA-B601-FB091DD066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pt-BR" b="1" i="0" dirty="0">
                <a:solidFill>
                  <a:srgbClr val="0A0A0A"/>
                </a:solidFill>
                <a:effectLst/>
                <a:latin typeface="Google Sans"/>
              </a:rPr>
              <a:t>Lei nº 12.965/2014 (Marco Civil da Internet):</a:t>
            </a:r>
            <a:r>
              <a:rPr lang="pt-BR" b="0" i="0" dirty="0">
                <a:solidFill>
                  <a:srgbClr val="0A0A0A"/>
                </a:solidFill>
                <a:effectLst/>
                <a:latin typeface="Google Sans"/>
              </a:rPr>
              <a:t> Esta lei estabelece princípios, garantias, direitos e deveres para o uso da internet no Brasil, incluindo a proteção de dados pessoais e a inviolabilidade da privacidade dos usuários. </a:t>
            </a:r>
          </a:p>
        </p:txBody>
      </p:sp>
    </p:spTree>
    <p:extLst>
      <p:ext uri="{BB962C8B-B14F-4D97-AF65-F5344CB8AC3E}">
        <p14:creationId xmlns:p14="http://schemas.microsoft.com/office/powerpoint/2010/main" val="321214662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</TotalTime>
  <Words>461</Words>
  <Application>Microsoft Office PowerPoint</Application>
  <PresentationFormat>Widescreen</PresentationFormat>
  <Paragraphs>22</Paragraphs>
  <Slides>8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8</vt:i4>
      </vt:variant>
    </vt:vector>
  </HeadingPairs>
  <TitlesOfParts>
    <vt:vector size="13" baseType="lpstr">
      <vt:lpstr>Arial</vt:lpstr>
      <vt:lpstr>Calibri</vt:lpstr>
      <vt:lpstr>Calibri Light</vt:lpstr>
      <vt:lpstr>Google Sans</vt:lpstr>
      <vt:lpstr>Tema do Office</vt:lpstr>
      <vt:lpstr>SQL INJECTION</vt:lpstr>
      <vt:lpstr>O que é</vt:lpstr>
      <vt:lpstr>SQL Injection: O que é? Por que funciona?</vt:lpstr>
      <vt:lpstr>Como executar o ataque</vt:lpstr>
      <vt:lpstr>Problemas</vt:lpstr>
      <vt:lpstr>Leis</vt:lpstr>
      <vt:lpstr>Leis</vt:lpstr>
      <vt:lpstr>Leis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SQL INJECTION</dc:title>
  <dc:creator>Administrador</dc:creator>
  <cp:lastModifiedBy>Administrador</cp:lastModifiedBy>
  <cp:revision>3</cp:revision>
  <dcterms:created xsi:type="dcterms:W3CDTF">2025-11-13T17:58:07Z</dcterms:created>
  <dcterms:modified xsi:type="dcterms:W3CDTF">2025-11-13T18:18:45Z</dcterms:modified>
</cp:coreProperties>
</file>